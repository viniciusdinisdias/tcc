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7" Type="http://schemas.openxmlformats.org/officeDocument/2006/relationships/image" Target="../media/image14.png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3.png" /><Relationship Id="rId5" Type="http://schemas.openxmlformats.org/officeDocument/2006/relationships/image" Target="../media/image12.png" /><Relationship Id="rId4" Type="http://schemas.openxmlformats.org/officeDocument/2006/relationships/image" Target="../media/image11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18.png" /><Relationship Id="rId4" Type="http://schemas.openxmlformats.org/officeDocument/2006/relationships/image" Target="../media/image17.png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7" Type="http://schemas.openxmlformats.org/officeDocument/2006/relationships/image" Target="../media/image25.png" /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4.png" /><Relationship Id="rId5" Type="http://schemas.openxmlformats.org/officeDocument/2006/relationships/image" Target="../media/image23.png" /><Relationship Id="rId4" Type="http://schemas.openxmlformats.org/officeDocument/2006/relationships/image" Target="../media/image22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 /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 /><Relationship Id="rId2" Type="http://schemas.openxmlformats.org/officeDocument/2006/relationships/image" Target="../media/image28.pn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200" y="4391620"/>
            <a:ext cx="609600" cy="28575"/>
          </a:xfrm>
          <a:prstGeom prst="rect">
            <a:avLst/>
          </a:prstGeom>
          <a:solidFill>
            <a:srgbClr val="7C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8200" y="162803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7C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200" y="2466230"/>
            <a:ext cx="11353800" cy="637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022"/>
              </a:lnSpc>
            </a:pPr>
            <a:r>
              <a:rPr sz="4650" b="1" i="0" u="none">
                <a:solidFill>
                  <a:srgbClr val="FFFFFF"/>
                </a:solidFill>
                <a:latin typeface="Fraunces"/>
              </a:rPr>
              <a:t>Fashion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294459"/>
            <a:ext cx="73342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D1C2C7"/>
                </a:solidFill>
                <a:latin typeface="IBM Plex Sans"/>
              </a:rPr>
              <a:t>Análise inteligente de estoque com inteligência artificial para a Fama Fashion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1628030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7F8F7"/>
                </a:solidFill>
                <a:latin typeface="Fraunces"/>
              </a:rPr>
              <a:t>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800" y="1766143"/>
            <a:ext cx="5191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0829D"/>
                </a:solidFill>
                <a:latin typeface="IBM Plex Sans"/>
              </a:rPr>
              <a:t>DEFESA DE TRABALHO DE CONCLUSÃO DE CURSO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801195"/>
            <a:ext cx="1512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9E8790"/>
                </a:solidFill>
                <a:latin typeface="IBM Plex Sans"/>
              </a:rPr>
              <a:t>ALUNO(A)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8475" y="5047044"/>
            <a:ext cx="1413849" cy="8309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sz="1350" b="1" dirty="0">
                <a:solidFill>
                  <a:srgbClr val="F7F8F7"/>
                </a:solidFill>
                <a:latin typeface="IBM Plex Sans"/>
              </a:rPr>
              <a:t>Vinícius Oliveira </a:t>
            </a:r>
          </a:p>
          <a:p>
            <a:pPr algn="l"/>
            <a:r>
              <a:rPr lang="pt-BR" sz="1350" b="1" i="0" u="none" dirty="0">
                <a:solidFill>
                  <a:srgbClr val="F7F8F7"/>
                </a:solidFill>
                <a:latin typeface="IBM Plex Sans"/>
              </a:rPr>
              <a:t>Matheus Holanda</a:t>
            </a:r>
          </a:p>
          <a:p>
            <a:pPr algn="l"/>
            <a:r>
              <a:rPr lang="pt-BR" sz="1350" b="1" dirty="0">
                <a:solidFill>
                  <a:srgbClr val="F7F8F7"/>
                </a:solidFill>
                <a:latin typeface="IBM Plex Sans"/>
              </a:rPr>
              <a:t>Daniel Romão </a:t>
            </a:r>
          </a:p>
          <a:p>
            <a:pPr algn="l"/>
            <a:r>
              <a:rPr lang="pt-BR" sz="1350" b="1" i="0" u="none" dirty="0">
                <a:solidFill>
                  <a:srgbClr val="F7F8F7"/>
                </a:solidFill>
                <a:latin typeface="IBM Plex Sans"/>
              </a:rPr>
              <a:t>Murilo Rodrigues </a:t>
            </a:r>
            <a:endParaRPr sz="1350" b="1" i="0" u="none" dirty="0">
              <a:solidFill>
                <a:srgbClr val="F7F8F7"/>
              </a:solidFill>
              <a:latin typeface="IBM Plex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05075" y="4801195"/>
            <a:ext cx="2012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E8790"/>
                </a:solidFill>
                <a:latin typeface="IBM Plex Sans"/>
              </a:rPr>
              <a:t>ORIENTADOR(A)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805" y="5047044"/>
            <a:ext cx="77888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50" b="1" dirty="0">
                <a:solidFill>
                  <a:srgbClr val="F7F8F7"/>
                </a:solidFill>
                <a:latin typeface="IBM Plex Sans"/>
              </a:rPr>
              <a:t>Davi Vilar</a:t>
            </a:r>
            <a:endParaRPr sz="1350" b="1" i="0" u="none" dirty="0">
              <a:solidFill>
                <a:srgbClr val="F7F8F7"/>
              </a:solidFill>
              <a:latin typeface="IBM Plex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0" y="4801195"/>
            <a:ext cx="21312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E8790"/>
                </a:solidFill>
                <a:latin typeface="IBM Plex Sans"/>
              </a:rPr>
              <a:t>INSTITUIÇÃO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010745"/>
            <a:ext cx="314028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sz="1350" b="1" i="0" u="none" dirty="0">
                <a:solidFill>
                  <a:srgbClr val="F7F8F7"/>
                </a:solidFill>
                <a:latin typeface="IBM Plex Sans"/>
              </a:rPr>
              <a:t>ETEC PROFESSOR CAMARGO ARANHA</a:t>
            </a:r>
            <a:endParaRPr sz="1350" b="1" i="0" u="none" dirty="0">
              <a:solidFill>
                <a:srgbClr val="F7F8F7"/>
              </a:solidFill>
              <a:latin typeface="IBM Plex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695950"/>
            <a:ext cx="10668000" cy="552450"/>
          </a:xfrm>
          <a:prstGeom prst="rect">
            <a:avLst/>
          </a:prstGeom>
          <a:solidFill>
            <a:srgbClr val="F0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501354"/>
            <a:ext cx="3403550" cy="1998166"/>
          </a:xfrm>
          <a:prstGeom prst="roundRect">
            <a:avLst>
              <a:gd name="adj" fmla="val 66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94150" y="2501354"/>
            <a:ext cx="3403550" cy="1998166"/>
          </a:xfrm>
          <a:prstGeom prst="roundRect">
            <a:avLst>
              <a:gd name="adj" fmla="val 66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26300" y="2501354"/>
            <a:ext cx="3403550" cy="1998166"/>
          </a:xfrm>
          <a:prstGeom prst="roundRect">
            <a:avLst>
              <a:gd name="adj" fmla="val 66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5695950"/>
            <a:ext cx="38100" cy="552450"/>
          </a:xfrm>
          <a:prstGeom prst="rect">
            <a:avLst/>
          </a:prstGeom>
          <a:solidFill>
            <a:srgbClr val="9C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806154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850" y="2806154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000" y="2806154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187" y="2920454"/>
            <a:ext cx="2381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150" y="2920454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201400" y="847725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C2B4E"/>
                </a:solidFill>
                <a:latin typeface="Fraunces"/>
              </a:rPr>
              <a:t>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5867400"/>
            <a:ext cx="111633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5C1631"/>
                </a:solidFill>
                <a:latin typeface="IBM Plex Sans"/>
              </a:rPr>
              <a:t>Diagnóstico Central: Faltava capacidade de análise estratégica, não apenas ferramentas de cadastro.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09600"/>
            <a:ext cx="8191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C2B4E"/>
                </a:solidFill>
                <a:latin typeface="IBM Plex Sans"/>
              </a:rPr>
              <a:t>CONTEXTO &amp; DESAFIO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857250"/>
            <a:ext cx="8601075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241016"/>
                </a:solidFill>
                <a:latin typeface="Fraunces"/>
              </a:rPr>
              <a:t>Decisões no Escuro na Fama Fashion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3415754"/>
            <a:ext cx="3767072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41016"/>
                </a:solidFill>
                <a:latin typeface="IBM Plex Sans"/>
              </a:rPr>
              <a:t>Cegueira Operacional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3768179"/>
            <a:ext cx="29654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5D4A52"/>
                </a:solidFill>
                <a:latin typeface="IBM Plex Sans"/>
              </a:rPr>
              <a:t>Sem visibilidade de itens parados ou capital imobilizado.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0850" y="3415754"/>
            <a:ext cx="3767072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41016"/>
                </a:solidFill>
                <a:latin typeface="IBM Plex Sans"/>
              </a:rPr>
              <a:t>Risco de Ruptura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0850" y="3768179"/>
            <a:ext cx="29654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5D4A52"/>
                </a:solidFill>
                <a:latin typeface="IBM Plex Sans"/>
              </a:rPr>
              <a:t>Incerteza crítica sobre iminência de desabastecimento.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000" y="3415754"/>
            <a:ext cx="3767072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41016"/>
                </a:solidFill>
                <a:latin typeface="IBM Plex Sans"/>
              </a:rPr>
              <a:t>Divergência de Canais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000" y="3768179"/>
            <a:ext cx="29654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5D4A52"/>
                </a:solidFill>
                <a:latin typeface="IBM Plex Sans"/>
              </a:rPr>
              <a:t>Dificuldade na distribuição entre loja física e Shopee.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64581"/>
            <a:ext cx="6012805" cy="2652712"/>
          </a:xfrm>
          <a:prstGeom prst="roundRect">
            <a:avLst>
              <a:gd name="adj" fmla="val 64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17705" y="2690812"/>
            <a:ext cx="4312294" cy="866775"/>
          </a:xfrm>
          <a:prstGeom prst="roundRect">
            <a:avLst>
              <a:gd name="adj" fmla="val 131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17705" y="3729037"/>
            <a:ext cx="4312294" cy="962025"/>
          </a:xfrm>
          <a:prstGeom prst="roundRect">
            <a:avLst>
              <a:gd name="adj" fmla="val 11881"/>
            </a:avLst>
          </a:prstGeom>
          <a:solidFill>
            <a:srgbClr val="7C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17705" y="2690812"/>
            <a:ext cx="47625" cy="866775"/>
          </a:xfrm>
          <a:prstGeom prst="rect">
            <a:avLst/>
          </a:prstGeom>
          <a:solidFill>
            <a:srgbClr val="9C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847725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C2B4E"/>
                </a:solidFill>
                <a:latin typeface="Fraunces"/>
              </a:rPr>
              <a:t>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0" y="6076950"/>
            <a:ext cx="381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C2B4E"/>
                </a:solidFill>
                <a:latin typeface="IBM Plex Sans"/>
              </a:rPr>
              <a:t>Sistema de Análise Inteligente de Estoque com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09600"/>
            <a:ext cx="72747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C2B4E"/>
                </a:solidFill>
                <a:latin typeface="IBM Plex Sans"/>
              </a:rPr>
              <a:t>CONCEITO DA SOLUÇÃO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57250"/>
            <a:ext cx="7638454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241016"/>
                </a:solidFill>
                <a:latin typeface="Fraunces"/>
              </a:rPr>
              <a:t>A Proposta do Fashion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2783681"/>
            <a:ext cx="5269855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sz="2250" b="1" i="0" u="none">
                <a:solidFill>
                  <a:srgbClr val="5C1631"/>
                </a:solidFill>
                <a:latin typeface="Fraunces"/>
              </a:rPr>
              <a:t>Um motor de inteligência artificial focado em transformar dados brutos em decisões táticas.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1100" y="4083843"/>
            <a:ext cx="526985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5D4A52"/>
                </a:solidFill>
                <a:latin typeface="IBM Plex Sans"/>
              </a:rPr>
              <a:t>O sistema não se limita a registrar movimentações: interpreta ativamente dinâmicas comerciais e antecipa riscos operacionais.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4880" y="2900362"/>
            <a:ext cx="4817119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241016"/>
                </a:solidFill>
                <a:latin typeface="IBM Plex Sans"/>
              </a:rPr>
              <a:t>Cadastros Operacionais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4880" y="3167062"/>
            <a:ext cx="48069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5D4A52"/>
                </a:solidFill>
                <a:latin typeface="IBM Plex Sans"/>
              </a:rPr>
              <a:t>O alicerce que alimenta a inteligência analítica.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5355" y="3976687"/>
            <a:ext cx="482664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FFFFF"/>
                </a:solidFill>
                <a:latin typeface="IBM Plex Sans"/>
              </a:rPr>
              <a:t>Núcleo Analítico com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5355" y="4262437"/>
            <a:ext cx="47712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DECEF"/>
                </a:solidFill>
                <a:latin typeface="IBM Plex Sans"/>
              </a:rPr>
              <a:t>O verdadeiro propósito e diferencial do projeto.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15025"/>
            <a:ext cx="106680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0" y="4951809"/>
            <a:ext cx="762000" cy="28575"/>
          </a:xfrm>
          <a:prstGeom prst="rect">
            <a:avLst/>
          </a:prstGeom>
          <a:solidFill>
            <a:srgbClr val="9C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915025"/>
            <a:ext cx="10668000" cy="9525"/>
          </a:xfrm>
          <a:prstGeom prst="rect">
            <a:avLst/>
          </a:prstGeom>
          <a:solidFill>
            <a:srgbClr val="E5E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239565"/>
            <a:ext cx="5334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2391965"/>
            <a:ext cx="2286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01400" y="847725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C2B4E"/>
                </a:solidFill>
                <a:latin typeface="Fraunces"/>
              </a:rPr>
              <a:t>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937" y="3039665"/>
            <a:ext cx="11668125" cy="1645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sz="2400" b="1" i="0" u="none">
                <a:solidFill>
                  <a:srgbClr val="241016"/>
                </a:solidFill>
                <a:latin typeface="Fraunces"/>
              </a:rPr>
              <a:t>"Desenvolver um sistema de análise inteligente de estoque e pedidos, baseado em IA, capaz de transformar dados operacionais brutos em indicadores, alertas e recomendações de apoio a decisões."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076950"/>
            <a:ext cx="3024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D6A72"/>
                </a:solidFill>
                <a:latin typeface="IBM Plex Sans"/>
              </a:rPr>
              <a:t>Aplicação prática voltada à Fama Fashion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400" y="6076950"/>
            <a:ext cx="3619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5C1631"/>
                </a:solidFill>
                <a:latin typeface="IBM Plex Sans"/>
              </a:rPr>
              <a:t>Foco: Tomada de Decisão Logística e Comercial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09600"/>
            <a:ext cx="3262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C2B4E"/>
                </a:solidFill>
                <a:latin typeface="IBM Plex Sans"/>
              </a:rPr>
              <a:t>ESCOPO DO PROJETO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857250"/>
            <a:ext cx="3425428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241016"/>
                </a:solidFill>
                <a:latin typeface="Fraunces"/>
              </a:rPr>
              <a:t>Objetivo Geral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33662"/>
            <a:ext cx="5162550" cy="2124075"/>
          </a:xfrm>
          <a:prstGeom prst="roundRect">
            <a:avLst>
              <a:gd name="adj" fmla="val 71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2614612"/>
            <a:ext cx="5200650" cy="2162175"/>
          </a:xfrm>
          <a:prstGeom prst="roundRect">
            <a:avLst>
              <a:gd name="adj" fmla="val 7048"/>
            </a:avLst>
          </a:prstGeom>
          <a:solidFill>
            <a:srgbClr val="F2ECED"/>
          </a:solidFill>
          <a:ln w="19050">
            <a:solidFill>
              <a:srgbClr val="E0C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0600" y="328136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3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0600" y="380523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3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90600" y="422433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3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77000" y="328136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9C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77000" y="370046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9C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77000" y="422433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9C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01400" y="847725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C2B4E"/>
                </a:solidFill>
                <a:latin typeface="Fraunces"/>
              </a:rPr>
              <a:t>FA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6700" y="6086475"/>
            <a:ext cx="43053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8C757F"/>
                </a:solidFill>
                <a:latin typeface="IBM Plex Sans"/>
              </a:rPr>
              <a:t>Estrutura balanceada entre solidez operacional e valor analítico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09600"/>
            <a:ext cx="47982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C2B4E"/>
                </a:solidFill>
                <a:latin typeface="IBM Plex Sans"/>
              </a:rPr>
              <a:t>METAS TÉCNICAS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857250"/>
            <a:ext cx="5038129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241016"/>
                </a:solidFill>
                <a:latin typeface="Fraunces"/>
              </a:rPr>
              <a:t>Objetivos Específicos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2943225"/>
            <a:ext cx="11811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7D6A72"/>
                </a:solidFill>
                <a:latin typeface="IBM Plex Sans"/>
              </a:rPr>
              <a:t>CAMADA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1200" y="2900362"/>
            <a:ext cx="271283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241016"/>
                </a:solidFill>
                <a:latin typeface="IBM Plex Sans"/>
              </a:rPr>
              <a:t>Infraestrutura de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281362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9C2B4E"/>
                </a:solidFill>
                <a:latin typeface="IBM Plex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0650" y="3281362"/>
            <a:ext cx="44005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4A373F"/>
                </a:solidFill>
                <a:latin typeface="IBM Plex Sans"/>
              </a:rPr>
              <a:t>CRUD de Produtos:</a:t>
            </a:r>
            <a:r>
              <a:rPr sz="1125" b="0" i="0" u="none">
                <a:solidFill>
                  <a:srgbClr val="4A373F"/>
                </a:solidFill>
                <a:latin typeface="IBM Plex Sans"/>
              </a:rPr>
              <a:t> categorias, tamanhos, cores e estoque mínimo.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805237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9C2B4E"/>
                </a:solidFill>
                <a:latin typeface="IBM Plex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0650" y="3805237"/>
            <a:ext cx="4619625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4A373F"/>
                </a:solidFill>
                <a:latin typeface="IBM Plex Sans"/>
              </a:rPr>
              <a:t>Registro Multicanal:</a:t>
            </a:r>
            <a:r>
              <a:rPr sz="1125" b="0" i="0" u="none">
                <a:solidFill>
                  <a:srgbClr val="4A373F"/>
                </a:solidFill>
                <a:latin typeface="IBM Plex Sans"/>
              </a:rPr>
              <a:t> distinção entre loja física e Shopee.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4224337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9C2B4E"/>
                </a:solidFill>
                <a:latin typeface="IBM Plex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0650" y="4224337"/>
            <a:ext cx="4976812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4A373F"/>
                </a:solidFill>
                <a:latin typeface="IBM Plex Sans"/>
              </a:rPr>
              <a:t>Visão Consolidada:</a:t>
            </a:r>
            <a:r>
              <a:rPr sz="1125" b="0" i="0" u="none">
                <a:solidFill>
                  <a:srgbClr val="4A373F"/>
                </a:solidFill>
                <a:latin typeface="IBM Plex Sans"/>
              </a:rPr>
              <a:t> controle de valor total e risco de ruptura.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0" y="2943225"/>
            <a:ext cx="11334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C2B4E"/>
                </a:solidFill>
                <a:latin typeface="IBM Plex Sans"/>
              </a:rPr>
              <a:t>DIFERENCIAL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9975" y="2900362"/>
            <a:ext cx="266283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5C1631"/>
                </a:solidFill>
                <a:latin typeface="IBM Plex Sans"/>
              </a:rPr>
              <a:t>Núcleo Analítico com 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4125" y="3281362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BM Plex San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7050" y="3281362"/>
            <a:ext cx="5143500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241016"/>
                </a:solidFill>
                <a:latin typeface="IBM Plex Sans"/>
              </a:rPr>
              <a:t>Orquestrador + 3 Agentes:</a:t>
            </a:r>
            <a:r>
              <a:rPr sz="1125" b="0" i="0" u="none">
                <a:solidFill>
                  <a:srgbClr val="241016"/>
                </a:solidFill>
                <a:latin typeface="IBM Plex Sans"/>
              </a:rPr>
              <a:t> análise de KPIs, anomalias e ações.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4125" y="3700462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BM Plex San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7050" y="3700462"/>
            <a:ext cx="44005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241016"/>
                </a:solidFill>
                <a:latin typeface="IBM Plex Sans"/>
              </a:rPr>
              <a:t>Painel de Diagnóstico:</a:t>
            </a:r>
            <a:r>
              <a:rPr sz="1125" b="0" i="0" u="none">
                <a:solidFill>
                  <a:srgbClr val="241016"/>
                </a:solidFill>
                <a:latin typeface="IBM Plex Sans"/>
              </a:rPr>
              <a:t> indicadores visuais e cards por severidade.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4125" y="4224337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IBM Plex San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7050" y="4224337"/>
            <a:ext cx="5214937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241016"/>
                </a:solidFill>
                <a:latin typeface="IBM Plex Sans"/>
              </a:rPr>
              <a:t>Identidade e Usabilidade:</a:t>
            </a:r>
            <a:r>
              <a:rPr sz="1125" b="0" i="0" u="none">
                <a:solidFill>
                  <a:srgbClr val="241016"/>
                </a:solidFill>
                <a:latin typeface="IBM Plex Sans"/>
              </a:rPr>
              <a:t> interface fluida com foco no analista.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71725"/>
            <a:ext cx="1066800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924300"/>
            <a:ext cx="10668000" cy="1095375"/>
          </a:xfrm>
          <a:prstGeom prst="roundRect">
            <a:avLst>
              <a:gd name="adj" fmla="val 12173"/>
            </a:avLst>
          </a:prstGeom>
          <a:solidFill>
            <a:srgbClr val="31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28700" y="2819400"/>
            <a:ext cx="1200150" cy="361950"/>
          </a:xfrm>
          <a:prstGeom prst="roundRect">
            <a:avLst>
              <a:gd name="adj" fmla="val 21052"/>
            </a:avLst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872037" y="2819400"/>
            <a:ext cx="1990725" cy="361950"/>
          </a:xfrm>
          <a:prstGeom prst="roundRect">
            <a:avLst>
              <a:gd name="adj" fmla="val 21052"/>
            </a:avLst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505950" y="2819400"/>
            <a:ext cx="1657350" cy="361950"/>
          </a:xfrm>
          <a:prstGeom prst="roundRect">
            <a:avLst>
              <a:gd name="adj" fmla="val 21052"/>
            </a:avLst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8700" y="4433887"/>
            <a:ext cx="1152525" cy="352425"/>
          </a:xfrm>
          <a:prstGeom prst="roundRect">
            <a:avLst>
              <a:gd name="adj" fmla="val 21621"/>
            </a:avLst>
          </a:prstGeom>
          <a:solidFill>
            <a:srgbClr val="41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92400" y="4433887"/>
            <a:ext cx="1466850" cy="352425"/>
          </a:xfrm>
          <a:prstGeom prst="roundRect">
            <a:avLst>
              <a:gd name="adj" fmla="val 21621"/>
            </a:avLst>
          </a:prstGeom>
          <a:solidFill>
            <a:srgbClr val="41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70426" y="4433887"/>
            <a:ext cx="1809750" cy="352425"/>
          </a:xfrm>
          <a:prstGeom prst="roundRect">
            <a:avLst>
              <a:gd name="adj" fmla="val 21621"/>
            </a:avLst>
          </a:prstGeom>
          <a:solidFill>
            <a:srgbClr val="41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19927" y="4429125"/>
            <a:ext cx="1743075" cy="361950"/>
          </a:xfrm>
          <a:prstGeom prst="roundRect">
            <a:avLst>
              <a:gd name="adj" fmla="val 21052"/>
            </a:avLst>
          </a:prstGeom>
          <a:solidFill>
            <a:srgbClr val="7C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037" y="3562350"/>
            <a:ext cx="1333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612" y="3562350"/>
            <a:ext cx="1333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768" y="2924175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681" y="2924175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4425" y="4552950"/>
            <a:ext cx="104775" cy="114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2451" y="4552950"/>
            <a:ext cx="104775" cy="1143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3376" y="4533900"/>
            <a:ext cx="13335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201400" y="847725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C2B4E"/>
                </a:solidFill>
                <a:latin typeface="Fraunces"/>
              </a:rPr>
              <a:t>FA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6086475"/>
            <a:ext cx="4714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D6A72"/>
                </a:solidFill>
                <a:latin typeface="IBM Plex Sans"/>
              </a:rPr>
              <a:t>Separação estrita entre persistência transacional e síntese cognitiva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0725" y="6086475"/>
            <a:ext cx="22740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C2B4E"/>
                </a:solidFill>
                <a:latin typeface="IBM Plex Sans"/>
              </a:rPr>
              <a:t>Arquitetura Monolítica Modular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09600"/>
            <a:ext cx="69175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C2B4E"/>
                </a:solidFill>
                <a:latin typeface="IBM Plex Sans"/>
              </a:rPr>
              <a:t>ENGENHARIA DO SISTEMA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857250"/>
            <a:ext cx="7263407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241016"/>
                </a:solidFill>
                <a:latin typeface="Fraunces"/>
              </a:rPr>
              <a:t>Arquitetura em Duas Camadas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" y="2562225"/>
            <a:ext cx="111633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7D6A72"/>
                </a:solidFill>
                <a:latin typeface="IBM Plex Sans"/>
              </a:rPr>
              <a:t>CAMADA DE DADOS OPERACIONAIS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7687" y="3567112"/>
            <a:ext cx="43457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C2B4E"/>
                </a:solidFill>
                <a:latin typeface="IBM Plex Sans"/>
              </a:rPr>
              <a:t>CÁLCULO DO RESUMO MATEMÁTICO PURO (PYTHON)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" y="4152900"/>
            <a:ext cx="111633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0829D"/>
                </a:solidFill>
                <a:latin typeface="IBM Plex Sans"/>
              </a:rPr>
              <a:t>CAMADA DE ANÁLISE INTELIGENTE (ANTHROPIC CLAUDE API)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0150" y="2914650"/>
            <a:ext cx="952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41016"/>
                </a:solidFill>
                <a:latin typeface="IBM Plex Sans"/>
              </a:rPr>
              <a:t>UI Jinja2 + 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3487" y="2914650"/>
            <a:ext cx="17430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41016"/>
                </a:solidFill>
                <a:latin typeface="IBM Plex Sans"/>
              </a:rPr>
              <a:t>FastAPI (Rotas &amp; Serviços)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7400" y="2914650"/>
            <a:ext cx="1409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41016"/>
                </a:solidFill>
                <a:latin typeface="IBM Plex Sans"/>
              </a:rPr>
              <a:t>SQLAlchemy + SQLite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034" y="4529137"/>
            <a:ext cx="1135856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FFFFFF"/>
                </a:solidFill>
                <a:latin typeface="IBM Plex Sans"/>
              </a:rPr>
              <a:t>Agente de KPIs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61444" y="4529137"/>
            <a:ext cx="1528762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FFFFFF"/>
                </a:solidFill>
                <a:latin typeface="IBM Plex Sans"/>
              </a:rPr>
              <a:t>Agente de Anomalias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6607" y="4529137"/>
            <a:ext cx="195738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FFFFFF"/>
                </a:solidFill>
                <a:latin typeface="IBM Plex Sans"/>
              </a:rPr>
              <a:t>Agente de Recomendações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91377" y="4524375"/>
            <a:ext cx="14954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BM Plex Sans"/>
              </a:rPr>
              <a:t>Orquestrador &amp; Painel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810250"/>
            <a:ext cx="106680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742307"/>
            <a:ext cx="2524125" cy="1630560"/>
          </a:xfrm>
          <a:prstGeom prst="roundRect">
            <a:avLst>
              <a:gd name="adj" fmla="val 81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6625" y="2742307"/>
            <a:ext cx="2524125" cy="1630560"/>
          </a:xfrm>
          <a:prstGeom prst="roundRect">
            <a:avLst>
              <a:gd name="adj" fmla="val 81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2742307"/>
            <a:ext cx="2524125" cy="1630560"/>
          </a:xfrm>
          <a:prstGeom prst="roundRect">
            <a:avLst>
              <a:gd name="adj" fmla="val 81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05875" y="2742307"/>
            <a:ext cx="2524125" cy="1630560"/>
          </a:xfrm>
          <a:prstGeom prst="roundRect">
            <a:avLst>
              <a:gd name="adj" fmla="val 81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009007"/>
            <a:ext cx="23812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337" y="3009007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0" y="3009007"/>
            <a:ext cx="23812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0" y="3009007"/>
            <a:ext cx="333375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01400" y="847725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C2B4E"/>
                </a:solidFill>
                <a:latin typeface="Fraunces"/>
              </a:rPr>
              <a:t>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5943600"/>
            <a:ext cx="5691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5C1631"/>
                </a:solidFill>
                <a:latin typeface="IBM Plex Sans"/>
              </a:rPr>
              <a:t>Critério de escolha: leveza, previsibilidade e velocidade de resposta da 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09600"/>
            <a:ext cx="4071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C2B4E"/>
                </a:solidFill>
                <a:latin typeface="IBM Plex Sans"/>
              </a:rPr>
              <a:t>TECNOLOGIA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857250"/>
            <a:ext cx="4275534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241016"/>
                </a:solidFill>
                <a:latin typeface="Fraunces"/>
              </a:rPr>
              <a:t>Stack Selecionada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39" y="3428107"/>
            <a:ext cx="276284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241016"/>
                </a:solidFill>
                <a:latin typeface="IBM Plex Sans"/>
              </a:rP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421" y="3732907"/>
            <a:ext cx="2631281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5D4A52"/>
                </a:solidFill>
                <a:latin typeface="IBM Plex Sans"/>
              </a:rPr>
              <a:t>Performance assíncrona para orquestração de 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7264" y="3428107"/>
            <a:ext cx="276284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241016"/>
                </a:solidFill>
                <a:latin typeface="IBM Plex Sans"/>
              </a:rPr>
              <a:t>Anthropic 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3046" y="3732907"/>
            <a:ext cx="2631281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5D4A52"/>
                </a:solidFill>
                <a:latin typeface="IBM Plex Sans"/>
              </a:rPr>
              <a:t>Tool use estruturado e interpretação analítica.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1889" y="3428107"/>
            <a:ext cx="276284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241016"/>
                </a:solidFill>
                <a:latin typeface="IBM Plex Sans"/>
              </a:rPr>
              <a:t>SQLAlchemy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7671" y="3732907"/>
            <a:ext cx="2631281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5D4A52"/>
                </a:solidFill>
                <a:latin typeface="IBM Plex Sans"/>
              </a:rPr>
              <a:t>Mapeamento ORM robusto com banco SQLite.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86514" y="3428107"/>
            <a:ext cx="276284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241016"/>
                </a:solidFill>
                <a:latin typeface="IBM Plex Sans"/>
              </a:rPr>
              <a:t>Jinja2 &amp; JS Puro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2296" y="3732907"/>
            <a:ext cx="2631281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5D4A52"/>
                </a:solidFill>
                <a:latin typeface="IBM Plex Sans"/>
              </a:rPr>
              <a:t>Renderização server-side ágil e sem dependências pesadas.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810250"/>
            <a:ext cx="10668000" cy="438150"/>
          </a:xfrm>
          <a:prstGeom prst="roundRect">
            <a:avLst>
              <a:gd name="adj" fmla="val 21739"/>
            </a:avLst>
          </a:prstGeom>
          <a:solidFill>
            <a:srgbClr val="F2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851844"/>
            <a:ext cx="2524125" cy="1411485"/>
          </a:xfrm>
          <a:prstGeom prst="roundRect">
            <a:avLst>
              <a:gd name="adj" fmla="val 9447"/>
            </a:avLst>
          </a:prstGeom>
          <a:solidFill>
            <a:srgbClr val="FFFFFF"/>
          </a:solidFill>
          <a:ln w="28575">
            <a:solidFill>
              <a:srgbClr val="9C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2851844"/>
            <a:ext cx="2524125" cy="28575"/>
          </a:xfrm>
          <a:prstGeom prst="rect">
            <a:avLst/>
          </a:prstGeom>
          <a:solidFill>
            <a:srgbClr val="9C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76625" y="2851844"/>
            <a:ext cx="2524125" cy="1411485"/>
          </a:xfrm>
          <a:prstGeom prst="roundRect">
            <a:avLst>
              <a:gd name="adj" fmla="val 9447"/>
            </a:avLst>
          </a:prstGeom>
          <a:solidFill>
            <a:srgbClr val="FFFFFF"/>
          </a:solidFill>
          <a:ln w="28575">
            <a:solidFill>
              <a:srgbClr val="9C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6625" y="2851844"/>
            <a:ext cx="2524125" cy="28575"/>
          </a:xfrm>
          <a:prstGeom prst="rect">
            <a:avLst/>
          </a:prstGeom>
          <a:solidFill>
            <a:srgbClr val="9C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2851844"/>
            <a:ext cx="2524125" cy="1411485"/>
          </a:xfrm>
          <a:prstGeom prst="roundRect">
            <a:avLst>
              <a:gd name="adj" fmla="val 9447"/>
            </a:avLst>
          </a:prstGeom>
          <a:solidFill>
            <a:srgbClr val="FFFFFF"/>
          </a:solidFill>
          <a:ln w="28575">
            <a:solidFill>
              <a:srgbClr val="9C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1250" y="2851844"/>
            <a:ext cx="2524125" cy="28575"/>
          </a:xfrm>
          <a:prstGeom prst="rect">
            <a:avLst/>
          </a:prstGeom>
          <a:solidFill>
            <a:srgbClr val="9C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05875" y="2851844"/>
            <a:ext cx="2524125" cy="1411485"/>
          </a:xfrm>
          <a:prstGeom prst="roundRect">
            <a:avLst>
              <a:gd name="adj" fmla="val 9447"/>
            </a:avLst>
          </a:prstGeom>
          <a:solidFill>
            <a:srgbClr val="FFFFFF"/>
          </a:solidFill>
          <a:ln w="28575">
            <a:solidFill>
              <a:srgbClr val="9C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05875" y="2851844"/>
            <a:ext cx="2524125" cy="28575"/>
          </a:xfrm>
          <a:prstGeom prst="rect">
            <a:avLst/>
          </a:prstGeom>
          <a:solidFill>
            <a:srgbClr val="9C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5953125"/>
            <a:ext cx="15240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201400" y="847725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C2B4E"/>
                </a:solidFill>
                <a:latin typeface="Fraunces"/>
              </a:rPr>
              <a:t>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080444"/>
            <a:ext cx="2238375" cy="954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C2B4E"/>
                </a:solidFill>
                <a:latin typeface="IBM Plex Sans"/>
              </a:rPr>
              <a:t>Módulo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7125" y="3080444"/>
            <a:ext cx="2238375" cy="954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C2B4E"/>
                </a:solidFill>
                <a:latin typeface="IBM Plex Sans"/>
              </a:rPr>
              <a:t>Módulo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1750" y="3080444"/>
            <a:ext cx="2238375" cy="954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C2B4E"/>
                </a:solidFill>
                <a:latin typeface="IBM Plex Sans"/>
              </a:rPr>
              <a:t>Módulo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6375" y="3080444"/>
            <a:ext cx="2238375" cy="954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C2B4E"/>
                </a:solidFill>
                <a:latin typeface="IBM Plex Sans"/>
              </a:rPr>
              <a:t>Módulo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5943600"/>
            <a:ext cx="8001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5C1631"/>
                </a:solidFill>
                <a:latin typeface="IBM Plex Sans"/>
              </a:rPr>
              <a:t>Essenciais para a integridade do sistema, esses módulos existem como meio de alimentar o motor de 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9600"/>
            <a:ext cx="77985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C2B4E"/>
                </a:solidFill>
                <a:latin typeface="IBM Plex Sans"/>
              </a:rPr>
              <a:t>CAMADA TRANSACIONAL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857250"/>
            <a:ext cx="8188523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241016"/>
                </a:solidFill>
                <a:latin typeface="Fraunces"/>
              </a:rPr>
              <a:t>A Base que Alimenta a Inteligência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3356669"/>
            <a:ext cx="2812851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241016"/>
                </a:solidFill>
                <a:latin typeface="IBM Plex Sans"/>
              </a:rPr>
              <a:t>Produtos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" y="3661469"/>
            <a:ext cx="22383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5D4A52"/>
                </a:solidFill>
                <a:latin typeface="IBM Plex Sans"/>
              </a:rPr>
              <a:t>Parâmetros de SKU, cor, tamanho e limites de segurança.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7125" y="3356669"/>
            <a:ext cx="2812851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241016"/>
                </a:solidFill>
                <a:latin typeface="IBM Plex Sans"/>
              </a:rPr>
              <a:t>Pedidos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7125" y="3661469"/>
            <a:ext cx="22383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5D4A52"/>
                </a:solidFill>
                <a:latin typeface="IBM Plex Sans"/>
              </a:rPr>
              <a:t>Vendas físicas e Shopee com baixa de estoque automática.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1750" y="3356669"/>
            <a:ext cx="2812851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241016"/>
                </a:solidFill>
                <a:latin typeface="IBM Plex Sans"/>
              </a:rPr>
              <a:t>Estoque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1750" y="3661469"/>
            <a:ext cx="22383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5D4A52"/>
                </a:solidFill>
                <a:latin typeface="IBM Plex Sans"/>
              </a:rPr>
              <a:t>Saldo consolidado e detecção de riscos de ruptura.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6375" y="3356669"/>
            <a:ext cx="2812851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241016"/>
                </a:solidFill>
                <a:latin typeface="IBM Plex Sans"/>
              </a:rPr>
              <a:t>Resumo Numérico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6375" y="3661469"/>
            <a:ext cx="22383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5D4A52"/>
                </a:solidFill>
                <a:latin typeface="IBM Plex Sans"/>
              </a:rPr>
              <a:t>Métricas de giro e parados calculadas 100% em Python.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686425"/>
            <a:ext cx="10668000" cy="561975"/>
          </a:xfrm>
          <a:prstGeom prst="roundRect">
            <a:avLst>
              <a:gd name="adj" fmla="val 20338"/>
            </a:avLst>
          </a:prstGeom>
          <a:solidFill>
            <a:srgbClr val="7C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562225"/>
            <a:ext cx="3403550" cy="18669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94150" y="2562225"/>
            <a:ext cx="3403550" cy="18669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26300" y="2562225"/>
            <a:ext cx="3403550" cy="18669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39325" y="5857875"/>
            <a:ext cx="1362075" cy="219075"/>
          </a:xfrm>
          <a:prstGeom prst="roundRect">
            <a:avLst>
              <a:gd name="adj" fmla="val 26086"/>
            </a:avLst>
          </a:prstGeom>
          <a:solidFill>
            <a:srgbClr val="904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2867025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800" y="2867025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950" y="2867025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00" y="2971800"/>
            <a:ext cx="1905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6575" y="2971800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7775" y="2971800"/>
            <a:ext cx="13335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01400" y="847725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C2B4E"/>
                </a:solidFill>
                <a:latin typeface="Fraunces"/>
              </a:rPr>
              <a:t>FA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5876925"/>
            <a:ext cx="92035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IBM Plex Sans"/>
              </a:rPr>
              <a:t>Decisão de Design Chave: A IA nunca calcula ou inventa números. Ela interpreta fatos matemáticos já apurados.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34575" y="5895975"/>
            <a:ext cx="1266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IBM Plex Sans"/>
              </a:rPr>
              <a:t>ZERO ALUCINAÇÃO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609600"/>
            <a:ext cx="82034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C2B4E"/>
                </a:solidFill>
                <a:latin typeface="IBM Plex Sans"/>
              </a:rPr>
              <a:t>DIFERENCIAL PRINCIPAL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857250"/>
            <a:ext cx="8613576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241016"/>
                </a:solidFill>
                <a:latin typeface="Fraunces"/>
              </a:rPr>
              <a:t>O Núcleo: Análise Inteligente com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650" y="3419475"/>
            <a:ext cx="381707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241016"/>
                </a:solidFill>
                <a:latin typeface="IBM Plex Sans"/>
              </a:rPr>
              <a:t>Agente de KPIs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650" y="3724275"/>
            <a:ext cx="3003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5D4A52"/>
                </a:solidFill>
                <a:latin typeface="IBM Plex Sans"/>
              </a:rPr>
              <a:t>Interpreta faturamento, ticket médio e giro com tool use estruturado.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1800" y="3419475"/>
            <a:ext cx="381707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241016"/>
                </a:solidFill>
                <a:latin typeface="IBM Plex Sans"/>
              </a:rPr>
              <a:t>Agente de Anomalias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1800" y="3724275"/>
            <a:ext cx="3003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5D4A52"/>
                </a:solidFill>
                <a:latin typeface="IBM Plex Sans"/>
              </a:rPr>
              <a:t>Mapeia desvios críticos, peças estagnadas e assimetrias de canais.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3950" y="3419475"/>
            <a:ext cx="381707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241016"/>
                </a:solidFill>
                <a:latin typeface="IBM Plex Sans"/>
              </a:rPr>
              <a:t>Agente de Recomendações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3950" y="3724275"/>
            <a:ext cx="3003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5D4A52"/>
                </a:solidFill>
                <a:latin typeface="IBM Plex Sans"/>
              </a:rPr>
              <a:t>Sugere ações práticas de reposição, queima e equilíbrio de vitrine.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762625"/>
            <a:ext cx="10668000" cy="485775"/>
          </a:xfrm>
          <a:prstGeom prst="rect">
            <a:avLst/>
          </a:prstGeom>
          <a:solidFill>
            <a:srgbClr val="F0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581275"/>
            <a:ext cx="51816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581275"/>
            <a:ext cx="51816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5762625"/>
            <a:ext cx="38100" cy="485775"/>
          </a:xfrm>
          <a:prstGeom prst="rect">
            <a:avLst/>
          </a:prstGeom>
          <a:solidFill>
            <a:srgbClr val="9C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947987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2947987"/>
            <a:ext cx="2857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01400" y="847725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C2B4E"/>
                </a:solidFill>
                <a:latin typeface="Fraunces"/>
              </a:rPr>
              <a:t>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5915025"/>
            <a:ext cx="11201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5C1631"/>
                </a:solidFill>
                <a:latin typeface="IBM Plex Sans"/>
              </a:rPr>
              <a:t>Acesso Universal à Inteligência: Ambos os perfis operam o motor analítico, garantindo insights a todos os níveis de operação.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09600"/>
            <a:ext cx="4953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C2B4E"/>
                </a:solidFill>
                <a:latin typeface="IBM Plex Sans"/>
              </a:rPr>
              <a:t>CONTROLE DE ACESSO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857250"/>
            <a:ext cx="520065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241016"/>
                </a:solidFill>
                <a:latin typeface="Fraunces"/>
              </a:rPr>
              <a:t>Autenticação e Papéis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3352800"/>
            <a:ext cx="4591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5D4A52"/>
                </a:solidFill>
                <a:latin typeface="IBM Plex Sans"/>
              </a:rPr>
              <a:t>Gestão integral de usuários, configurações cadastrais e parametrização de estoque mínimo.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3962400"/>
            <a:ext cx="5619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C2B4E"/>
                </a:solidFill>
                <a:latin typeface="IBM Plex Sans"/>
              </a:rPr>
              <a:t>Execução completa de análises de 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1300" y="3352800"/>
            <a:ext cx="4591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5D4A52"/>
                </a:solidFill>
                <a:latin typeface="IBM Plex Sans"/>
              </a:rPr>
              <a:t>Registro rotineiro de movimentações e visualização operacional do catálogo de produtos.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3962400"/>
            <a:ext cx="56007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C2B4E"/>
                </a:solidFill>
                <a:latin typeface="IBM Plex Sans"/>
              </a:rPr>
              <a:t>Execução completa de análises de 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" y="2924175"/>
            <a:ext cx="261282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41016"/>
                </a:solidFill>
                <a:latin typeface="IBM Plex Sans"/>
              </a:rPr>
              <a:t>Perfil Administrador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400" y="2924175"/>
            <a:ext cx="210026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41016"/>
                </a:solidFill>
                <a:latin typeface="IBM Plex Sans"/>
              </a:rPr>
              <a:t>Perfil Assistente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547937"/>
            <a:ext cx="5067300" cy="2295525"/>
          </a:xfrm>
          <a:prstGeom prst="roundRect">
            <a:avLst>
              <a:gd name="adj" fmla="val 746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952750" y="2890837"/>
            <a:ext cx="685800" cy="685800"/>
          </a:xfrm>
          <a:prstGeom prst="roundRect">
            <a:avLst>
              <a:gd name="adj" fmla="val 19444"/>
            </a:avLst>
          </a:prstGeom>
          <a:solidFill>
            <a:srgbClr val="7C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72200" y="2614612"/>
            <a:ext cx="5257800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3729037"/>
            <a:ext cx="52578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0" y="304323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7C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847725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C2B4E"/>
                </a:solidFill>
                <a:latin typeface="Fraunces"/>
              </a:rPr>
              <a:t>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2825" y="6086475"/>
            <a:ext cx="48291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8C757F"/>
                </a:solidFill>
                <a:latin typeface="IBM Plex Sans"/>
              </a:rPr>
              <a:t>Elegância voltada ao varejo de moda sem abrir mão da precisão de 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09600"/>
            <a:ext cx="3952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C2B4E"/>
                </a:solidFill>
                <a:latin typeface="IBM Plex Sans"/>
              </a:rPr>
              <a:t>DESIGN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857250"/>
            <a:ext cx="4150518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241016"/>
                </a:solidFill>
                <a:latin typeface="Fraunces"/>
              </a:rPr>
              <a:t>Identidade Visual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9875" y="2890837"/>
            <a:ext cx="97155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u="none">
                <a:solidFill>
                  <a:srgbClr val="FFFFFF"/>
                </a:solidFill>
                <a:latin typeface="Fraunces"/>
              </a:rPr>
              <a:t>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7976" y="3767137"/>
            <a:ext cx="2775346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241016"/>
                </a:solidFill>
                <a:latin typeface="IBM Plex Sans"/>
              </a:rPr>
              <a:t>Monograma Geométrico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212" y="4100512"/>
            <a:ext cx="54768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5D4A52"/>
                </a:solidFill>
                <a:latin typeface="IBM Plex Sans"/>
              </a:rPr>
              <a:t>Representa tanto o sistema (Fashion Analytics) quanto o cliente atendido (Fama Fashion).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05112"/>
            <a:ext cx="5791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7D6A72"/>
                </a:solidFill>
                <a:latin typeface="IBM Plex Sans"/>
              </a:rPr>
              <a:t>PALETA E ATMOSFERA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19537"/>
            <a:ext cx="5791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7D6A72"/>
                </a:solidFill>
                <a:latin typeface="IBM Plex Sans"/>
              </a:rPr>
              <a:t>TIPOGRAFIA FUNCIONAL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157662"/>
            <a:ext cx="5791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5C1631"/>
                </a:solidFill>
                <a:latin typeface="Fraunces"/>
              </a:rPr>
              <a:t>Fraunces (Serifada para Títulos)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14837"/>
            <a:ext cx="5791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D4A52"/>
                </a:solidFill>
                <a:latin typeface="IBM Plex Sans"/>
              </a:rPr>
              <a:t>IBM Plex Sans (Corpo e Indicadores de Sistema)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043237"/>
            <a:ext cx="3905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41016"/>
                </a:solidFill>
                <a:latin typeface="IBM Plex Sans"/>
              </a:rPr>
              <a:t>Gradiente de Destaque (#9C2B4E → #5C1631)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224212"/>
            <a:ext cx="3905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D6A72"/>
                </a:solidFill>
                <a:latin typeface="IBM Plex Sans"/>
              </a:rPr>
              <a:t>Fundo claro #F7F8F7 | Tinta principal #241016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15025"/>
            <a:ext cx="106680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638425"/>
            <a:ext cx="5067300" cy="194310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915025"/>
            <a:ext cx="10668000" cy="9525"/>
          </a:xfrm>
          <a:prstGeom prst="rect">
            <a:avLst/>
          </a:prstGeom>
          <a:solidFill>
            <a:srgbClr val="E5E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2657475"/>
            <a:ext cx="5257800" cy="5334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72200" y="3343275"/>
            <a:ext cx="5257800" cy="5334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4029075"/>
            <a:ext cx="5257800" cy="5334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2828925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3514725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4200525"/>
            <a:ext cx="2190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01400" y="847725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C2B4E"/>
                </a:solidFill>
                <a:latin typeface="Fraunces"/>
              </a:rPr>
              <a:t>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076950"/>
            <a:ext cx="1881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D6A72"/>
                </a:solidFill>
                <a:latin typeface="IBM Plex Sans"/>
              </a:rPr>
              <a:t>Entrega prática concluída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48850" y="6076950"/>
            <a:ext cx="1976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C2B4E"/>
                </a:solidFill>
                <a:latin typeface="IBM Plex Sans"/>
              </a:rPr>
              <a:t>Validação Real Conduzida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09600"/>
            <a:ext cx="54887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C2B4E"/>
                </a:solidFill>
                <a:latin typeface="IBM Plex Sans"/>
              </a:rPr>
              <a:t>MATURIDADE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857250"/>
            <a:ext cx="576322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241016"/>
                </a:solidFill>
                <a:latin typeface="Fraunces"/>
              </a:rPr>
              <a:t>Estágio Atual do Projeto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212" y="2981325"/>
            <a:ext cx="5476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9C2B4E"/>
                </a:solidFill>
                <a:latin typeface="IBM Plex Sans"/>
              </a:rPr>
              <a:t>PRONTIDÃO DE 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212" y="3248025"/>
            <a:ext cx="5476875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5C1631"/>
                </a:solidFill>
                <a:latin typeface="Fraunces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212" y="4048125"/>
            <a:ext cx="54768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241016"/>
                </a:solidFill>
                <a:latin typeface="IBM Plex Sans"/>
              </a:rPr>
              <a:t>Funcionalidades Core Implementadas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5600" y="2833687"/>
            <a:ext cx="42505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41016"/>
                </a:solidFill>
                <a:latin typeface="IBM Plex Sans"/>
              </a:rPr>
              <a:t>Telas operacionais integradas com baixa de estoque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600" y="3519487"/>
            <a:ext cx="46553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41016"/>
                </a:solidFill>
                <a:latin typeface="IBM Plex Sans"/>
              </a:rPr>
              <a:t>Pipeline de IA operando de ponta a ponta com 3 agentes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4175" y="4205287"/>
            <a:ext cx="4691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5C1631"/>
                </a:solidFill>
                <a:latin typeface="IBM Plex Sans"/>
              </a:rPr>
              <a:t>Fase final restrita a polimentos de interface e usabilidade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38437"/>
            <a:ext cx="5191125" cy="1914525"/>
          </a:xfrm>
          <a:prstGeom prst="roundRect">
            <a:avLst>
              <a:gd name="adj" fmla="val 79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9825" y="2728912"/>
            <a:ext cx="5210175" cy="1933575"/>
          </a:xfrm>
          <a:prstGeom prst="roundRect">
            <a:avLst>
              <a:gd name="adj" fmla="val 7881"/>
            </a:avLst>
          </a:prstGeom>
          <a:noFill/>
          <a:ln w="9525">
            <a:solidFill>
              <a:srgbClr val="E5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847725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C2B4E"/>
                </a:solidFill>
                <a:latin typeface="Fraunces"/>
              </a:rPr>
              <a:t>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0" y="6086475"/>
            <a:ext cx="4476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D6A72"/>
                </a:solidFill>
                <a:latin typeface="IBM Plex Sans"/>
              </a:rPr>
              <a:t>Escopo dimensionado com rigor para execução técnica consistente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09600"/>
            <a:ext cx="6869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C2B4E"/>
                </a:solidFill>
                <a:latin typeface="IBM Plex Sans"/>
              </a:rPr>
              <a:t>EVOLUÇÃO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57250"/>
            <a:ext cx="7213401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241016"/>
                </a:solidFill>
                <a:latin typeface="Fraunces"/>
              </a:rPr>
              <a:t>Limitações &amp; Próximos Passos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3043237"/>
            <a:ext cx="582215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7D6A72"/>
                </a:solidFill>
                <a:latin typeface="IBM Plex Sans"/>
              </a:rPr>
              <a:t>ESCOLHAS CONSCIENTES DE TCC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6050" y="3043237"/>
            <a:ext cx="56959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C2B4E"/>
                </a:solidFill>
                <a:latin typeface="IBM Plex Sans"/>
              </a:rPr>
              <a:t>ROADMAP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3338512"/>
            <a:ext cx="6113264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241016"/>
                </a:solidFill>
                <a:latin typeface="IBM Plex Sans"/>
              </a:rPr>
              <a:t>Ausência de Paginação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3586162"/>
            <a:ext cx="5822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D4A52"/>
                </a:solidFill>
                <a:latin typeface="IBM Plex Sans"/>
              </a:rPr>
              <a:t>Volume inicial da Fama Fashion comportado em memória.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3929062"/>
            <a:ext cx="6113264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241016"/>
                </a:solidFill>
                <a:latin typeface="IBM Plex Sans"/>
              </a:rPr>
              <a:t>Execução sem Cache de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4176712"/>
            <a:ext cx="5822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D4A52"/>
                </a:solidFill>
                <a:latin typeface="IBM Plex Sans"/>
              </a:rPr>
              <a:t>Garante diagnósticos sempre atualizados em tempo real.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6050" y="3338512"/>
            <a:ext cx="56959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5C1631"/>
                </a:solidFill>
                <a:latin typeface="IBM Plex Sans"/>
              </a:rPr>
              <a:t>Integração via API Shopee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6050" y="3586162"/>
            <a:ext cx="5695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D4A52"/>
                </a:solidFill>
                <a:latin typeface="IBM Plex Sans"/>
              </a:rPr>
              <a:t>Sincronização de pedidos e inventário sem digitação manual.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6050" y="3929062"/>
            <a:ext cx="56959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5C1631"/>
                </a:solidFill>
                <a:latin typeface="IBM Plex Sans"/>
              </a:rPr>
              <a:t>Previsão de Demanda com Séries Temporais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6050" y="4176712"/>
            <a:ext cx="5695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D4A52"/>
                </a:solidFill>
                <a:latin typeface="IBM Plex Sans"/>
              </a:rPr>
              <a:t>Modelagem preditiva sazonal para coleções futuras.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38825" y="1914525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7C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91200" y="4352925"/>
            <a:ext cx="609600" cy="28575"/>
          </a:xfrm>
          <a:prstGeom prst="rect">
            <a:avLst/>
          </a:prstGeom>
          <a:solidFill>
            <a:srgbClr val="7C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95950" y="1914525"/>
            <a:ext cx="800100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 i="0" u="none">
                <a:solidFill>
                  <a:srgbClr val="F7F8F7"/>
                </a:solidFill>
                <a:latin typeface="Fraunces"/>
              </a:rPr>
              <a:t>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0540" y="2695575"/>
            <a:ext cx="7350918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FFFFF"/>
                </a:solidFill>
                <a:latin typeface="Fraunces"/>
              </a:rPr>
              <a:t>Obrigado pela Atenção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457575"/>
            <a:ext cx="7620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D1C2C7"/>
                </a:solidFill>
                <a:latin typeface="IBM Plex Sans"/>
              </a:rPr>
              <a:t>Fashion Analytics: Inteligência artificial aplicada à tomada de decisão no varejo de moda.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5890" y="4724400"/>
            <a:ext cx="55602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E0829D"/>
                </a:solidFill>
                <a:latin typeface="IBM Plex Sans"/>
              </a:rPr>
              <a:t>Estamos abertos a perguntas e considerações da banca.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Vinícius Dias</cp:lastModifiedBy>
  <cp:revision>2</cp:revision>
  <dcterms:created xsi:type="dcterms:W3CDTF">2013-01-27T09:14:16Z</dcterms:created>
  <dcterms:modified xsi:type="dcterms:W3CDTF">2026-09-17T03:11:08Z</dcterms:modified>
  <cp:category/>
</cp:coreProperties>
</file>